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4D028-8969-42FD-BA51-C19B0F128B6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A3789-A9CC-4120-A256-8839D0621D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30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A3789-A9CC-4120-A256-8839D0621D6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7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sakshibirendra1028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3198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Submitted </a:t>
            </a:r>
            <a:r>
              <a:rPr lang="en-US" dirty="0" err="1"/>
              <a:t>by:Sakshi</a:t>
            </a:r>
            <a:r>
              <a:rPr lang="en-US" dirty="0"/>
              <a:t> Birendra </a:t>
            </a:r>
            <a:r>
              <a:rPr lang="en-US" dirty="0" err="1"/>
              <a:t>MahtoRegistered</a:t>
            </a:r>
            <a:r>
              <a:rPr lang="en-US" dirty="0"/>
              <a:t> Number: 7354135940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PRDA-05: Customer Data Analysis</a:t>
            </a:r>
            <a:br>
              <a:rPr lang="en-US" sz="2800" b="1" dirty="0"/>
            </a:br>
            <a:r>
              <a:rPr lang="en-US" sz="2800" b="1" dirty="0"/>
              <a:t>Project Team ID: PTID-CDA-FEB-26-1308</a:t>
            </a:r>
            <a:endParaRPr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6523349" y="4952372"/>
            <a:ext cx="5605272" cy="1542696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Submitted by</a:t>
            </a:r>
            <a:r>
              <a:rPr lang="en-US" dirty="0"/>
              <a:t>:  Sakshi Birendra Mahto 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Email:   </a:t>
            </a:r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sakshibirendra1028@gmail.com</a:t>
            </a:r>
            <a:endParaRPr lang="en-US" dirty="0">
              <a:solidFill>
                <a:schemeClr val="bg1"/>
              </a:solidFill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Batch ID: </a:t>
            </a:r>
            <a:r>
              <a:rPr lang="en-US" altLang="en-US" dirty="0"/>
              <a:t>22-SEP-25-CDA-BUN-040-WDM0930-PUN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/>
              <a:t>Course: </a:t>
            </a:r>
            <a:r>
              <a:rPr lang="en-US" altLang="en-US" dirty="0"/>
              <a:t>Certified Data Analyst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18F01"/>
                </a:solidFill>
              </a:rPr>
              <a:t>ISTANBUL</a:t>
            </a:r>
            <a:r>
              <a:rPr lang="en-IN" sz="3600" b="1" i="0" dirty="0">
                <a:solidFill>
                  <a:srgbClr val="F18F01"/>
                </a:solidFill>
              </a:rPr>
              <a:t>’S</a:t>
            </a:r>
            <a:r>
              <a:rPr sz="3600" b="1" i="0" dirty="0">
                <a:solidFill>
                  <a:srgbClr val="F18F01"/>
                </a:solidFill>
              </a:rPr>
              <a:t> SHOPPING MALL</a:t>
            </a:r>
            <a:r>
              <a:rPr lang="en-IN" sz="3600" b="1" i="0" dirty="0">
                <a:solidFill>
                  <a:srgbClr val="F18F01"/>
                </a:solidFill>
              </a:rPr>
              <a:t> ANALYSIS</a:t>
            </a:r>
            <a:endParaRPr sz="3600" b="1" i="0" dirty="0">
              <a:solidFill>
                <a:srgbClr val="F18F0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>
                <a:solidFill>
                  <a:srgbClr val="FFFFFF"/>
                </a:solidFill>
              </a:rPr>
              <a:t>Customer Analytics Report  |  2021 –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25A56E-4ADA-4C89-BDF2-D98361AE3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2" y="112651"/>
            <a:ext cx="1355987" cy="3497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</a:rPr>
              <a:t>99,457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353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₺251.5M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353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₺2,529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E201BFA-6567-413A-A7F8-EB966CFDE0B3}"/>
              </a:ext>
            </a:extLst>
          </p:cNvPr>
          <p:cNvSpPr/>
          <p:nvPr/>
        </p:nvSpPr>
        <p:spPr>
          <a:xfrm>
            <a:off x="0" y="6585566"/>
            <a:ext cx="12188952" cy="27243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E2F785D-DC18-41EB-8307-262F2F368A81}"/>
              </a:ext>
            </a:extLst>
          </p:cNvPr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7419C4C-C227-454F-B1A3-DC0D49BB0799}"/>
              </a:ext>
            </a:extLst>
          </p:cNvPr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What we aim to achieve through this analysis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8759761-E087-46B2-BA93-B9FA66CB1C60}"/>
              </a:ext>
            </a:extLst>
          </p:cNvPr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A90300A-C24C-4A68-A916-57591ECB63CA}"/>
              </a:ext>
            </a:extLst>
          </p:cNvPr>
          <p:cNvSpPr/>
          <p:nvPr/>
        </p:nvSpPr>
        <p:spPr>
          <a:xfrm>
            <a:off x="320040" y="123444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6D0AB93-E94A-45DF-8791-8D90F68DC5A9}"/>
              </a:ext>
            </a:extLst>
          </p:cNvPr>
          <p:cNvSpPr/>
          <p:nvPr/>
        </p:nvSpPr>
        <p:spPr>
          <a:xfrm>
            <a:off x="320040" y="1234440"/>
            <a:ext cx="45720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BE2F9BE-FF9D-4242-BE8F-53FFBFE17E69}"/>
              </a:ext>
            </a:extLst>
          </p:cNvPr>
          <p:cNvSpPr txBox="1"/>
          <p:nvPr/>
        </p:nvSpPr>
        <p:spPr>
          <a:xfrm>
            <a:off x="3200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C73EA96-626E-4A57-BBEB-0CBEF74611ED}"/>
              </a:ext>
            </a:extLst>
          </p:cNvPr>
          <p:cNvSpPr txBox="1"/>
          <p:nvPr/>
        </p:nvSpPr>
        <p:spPr>
          <a:xfrm>
            <a:off x="850392" y="1307592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🔍 Analyze Customer Behaviour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10ED667-81E2-498B-8F55-EAD1D6D88460}"/>
              </a:ext>
            </a:extLst>
          </p:cNvPr>
          <p:cNvSpPr txBox="1"/>
          <p:nvPr/>
        </p:nvSpPr>
        <p:spPr>
          <a:xfrm>
            <a:off x="850392" y="1709928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Understand purchasing patterns across gender, age, category and location for 99,457 transactions.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E8EF9357-D5AA-4C4F-9DF5-A6AB074F8EB5}"/>
              </a:ext>
            </a:extLst>
          </p:cNvPr>
          <p:cNvSpPr/>
          <p:nvPr/>
        </p:nvSpPr>
        <p:spPr>
          <a:xfrm>
            <a:off x="6309359" y="123444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2B54FCD-F0C5-419C-BB0F-CADAFB069694}"/>
              </a:ext>
            </a:extLst>
          </p:cNvPr>
          <p:cNvSpPr/>
          <p:nvPr/>
        </p:nvSpPr>
        <p:spPr>
          <a:xfrm>
            <a:off x="6309359" y="1234440"/>
            <a:ext cx="45720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A698C2D-E6F1-49E2-AD6F-EF0170255DA2}"/>
              </a:ext>
            </a:extLst>
          </p:cNvPr>
          <p:cNvSpPr txBox="1"/>
          <p:nvPr/>
        </p:nvSpPr>
        <p:spPr>
          <a:xfrm>
            <a:off x="6309359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3CE3CD6-D182-4882-B054-345F4FA76D0D}"/>
              </a:ext>
            </a:extLst>
          </p:cNvPr>
          <p:cNvSpPr txBox="1"/>
          <p:nvPr/>
        </p:nvSpPr>
        <p:spPr>
          <a:xfrm>
            <a:off x="6839712" y="1307592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📈 Identify Revenue Trends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769A2C2-B04E-4442-AEC4-F0138BA980D6}"/>
              </a:ext>
            </a:extLst>
          </p:cNvPr>
          <p:cNvSpPr txBox="1"/>
          <p:nvPr/>
        </p:nvSpPr>
        <p:spPr>
          <a:xfrm>
            <a:off x="6839712" y="1709928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Track revenue performance across 2021–2023, by year, quarter, month and shopping mall.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79F6E07-02F4-4848-8DC1-A1B2B90B8A84}"/>
              </a:ext>
            </a:extLst>
          </p:cNvPr>
          <p:cNvSpPr/>
          <p:nvPr/>
        </p:nvSpPr>
        <p:spPr>
          <a:xfrm>
            <a:off x="320040" y="2898648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887B166-D948-46C1-9861-D49A9C28F811}"/>
              </a:ext>
            </a:extLst>
          </p:cNvPr>
          <p:cNvSpPr/>
          <p:nvPr/>
        </p:nvSpPr>
        <p:spPr>
          <a:xfrm>
            <a:off x="320040" y="2898648"/>
            <a:ext cx="45720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09626E5-6E85-44C8-B776-D259904528C1}"/>
              </a:ext>
            </a:extLst>
          </p:cNvPr>
          <p:cNvSpPr txBox="1"/>
          <p:nvPr/>
        </p:nvSpPr>
        <p:spPr>
          <a:xfrm>
            <a:off x="320040" y="3401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6E3A63C-1ABF-471C-A76C-76EA5EB577E5}"/>
              </a:ext>
            </a:extLst>
          </p:cNvPr>
          <p:cNvSpPr txBox="1"/>
          <p:nvPr/>
        </p:nvSpPr>
        <p:spPr>
          <a:xfrm>
            <a:off x="850392" y="29718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👥 Study Gender &amp; Age Patterns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5209F59-EE43-4761-949F-B9938736040F}"/>
              </a:ext>
            </a:extLst>
          </p:cNvPr>
          <p:cNvSpPr txBox="1"/>
          <p:nvPr/>
        </p:nvSpPr>
        <p:spPr>
          <a:xfrm>
            <a:off x="850392" y="3374136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Compare buying habits, product preferences and spending across gender and 5 age groups.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B537465-E515-4098-B4E2-5C4B2A5EFB4F}"/>
              </a:ext>
            </a:extLst>
          </p:cNvPr>
          <p:cNvSpPr/>
          <p:nvPr/>
        </p:nvSpPr>
        <p:spPr>
          <a:xfrm>
            <a:off x="6309359" y="2898648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B818D92-83F8-4DA1-9DD5-63753F64B359}"/>
              </a:ext>
            </a:extLst>
          </p:cNvPr>
          <p:cNvSpPr/>
          <p:nvPr/>
        </p:nvSpPr>
        <p:spPr>
          <a:xfrm>
            <a:off x="6309359" y="2898648"/>
            <a:ext cx="45720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EEEEF6A-540E-4362-8AD7-BA99DAFBBD8F}"/>
              </a:ext>
            </a:extLst>
          </p:cNvPr>
          <p:cNvSpPr txBox="1"/>
          <p:nvPr/>
        </p:nvSpPr>
        <p:spPr>
          <a:xfrm>
            <a:off x="6309359" y="34015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2604FE0-785D-4304-9170-9A74751A4AF1}"/>
              </a:ext>
            </a:extLst>
          </p:cNvPr>
          <p:cNvSpPr txBox="1"/>
          <p:nvPr/>
        </p:nvSpPr>
        <p:spPr>
          <a:xfrm>
            <a:off x="6839712" y="2971800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💳 Understand Payment Methods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559EC81-A32A-4DD5-9BF8-4E08F547F7C2}"/>
              </a:ext>
            </a:extLst>
          </p:cNvPr>
          <p:cNvSpPr txBox="1"/>
          <p:nvPr/>
        </p:nvSpPr>
        <p:spPr>
          <a:xfrm>
            <a:off x="6839712" y="3374136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Analyze Cash, Credit Card and Debit Card usage across demographics and product categories.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671EFA6-8E19-4CB9-8FA4-AF2384188FF7}"/>
              </a:ext>
            </a:extLst>
          </p:cNvPr>
          <p:cNvSpPr/>
          <p:nvPr/>
        </p:nvSpPr>
        <p:spPr>
          <a:xfrm>
            <a:off x="320040" y="4562856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B15BB07-AF26-422F-80D9-00FF948BE78A}"/>
              </a:ext>
            </a:extLst>
          </p:cNvPr>
          <p:cNvSpPr/>
          <p:nvPr/>
        </p:nvSpPr>
        <p:spPr>
          <a:xfrm>
            <a:off x="320040" y="4562856"/>
            <a:ext cx="45720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59007F9-D69D-469E-8BDD-3EFADC126FAD}"/>
              </a:ext>
            </a:extLst>
          </p:cNvPr>
          <p:cNvSpPr txBox="1"/>
          <p:nvPr/>
        </p:nvSpPr>
        <p:spPr>
          <a:xfrm>
            <a:off x="320040" y="5065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69CFB68-3927-4E4F-B6C6-148A3E8222EA}"/>
              </a:ext>
            </a:extLst>
          </p:cNvPr>
          <p:cNvSpPr txBox="1"/>
          <p:nvPr/>
        </p:nvSpPr>
        <p:spPr>
          <a:xfrm>
            <a:off x="850392" y="463600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🏬 Evaluate Mall Performance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6B2C8C9-E66E-44DF-A8DD-369BAE60DCAA}"/>
              </a:ext>
            </a:extLst>
          </p:cNvPr>
          <p:cNvSpPr txBox="1"/>
          <p:nvPr/>
        </p:nvSpPr>
        <p:spPr>
          <a:xfrm>
            <a:off x="850392" y="5038344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Rank and compare all 10 Istanbul shopping malls by revenue, volume and category mix.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DA9FA88-88F9-4D83-9E8E-428CBF91A90B}"/>
              </a:ext>
            </a:extLst>
          </p:cNvPr>
          <p:cNvSpPr/>
          <p:nvPr/>
        </p:nvSpPr>
        <p:spPr>
          <a:xfrm>
            <a:off x="6309359" y="4562856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82BC79C-E176-4500-9B6F-DFC4DB6B7195}"/>
              </a:ext>
            </a:extLst>
          </p:cNvPr>
          <p:cNvSpPr/>
          <p:nvPr/>
        </p:nvSpPr>
        <p:spPr>
          <a:xfrm>
            <a:off x="6309359" y="4562856"/>
            <a:ext cx="457200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5C775A3-156D-416F-B070-88EBFDB84910}"/>
              </a:ext>
            </a:extLst>
          </p:cNvPr>
          <p:cNvSpPr txBox="1"/>
          <p:nvPr/>
        </p:nvSpPr>
        <p:spPr>
          <a:xfrm>
            <a:off x="6309359" y="50657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EA23137-D5A3-47C6-A5DB-E828DBC4B0E9}"/>
              </a:ext>
            </a:extLst>
          </p:cNvPr>
          <p:cNvSpPr txBox="1"/>
          <p:nvPr/>
        </p:nvSpPr>
        <p:spPr>
          <a:xfrm>
            <a:off x="6839712" y="463600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📊 Build Power BI Dashboard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68198F4-F7F6-400E-AD55-52E439368029}"/>
              </a:ext>
            </a:extLst>
          </p:cNvPr>
          <p:cNvSpPr txBox="1"/>
          <p:nvPr/>
        </p:nvSpPr>
        <p:spPr>
          <a:xfrm>
            <a:off x="6839712" y="5038344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Create an interactive dashboard with slicers, KPIs, charts and business recommendations.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37ADD828-F896-4265-92B2-6AA2B6476EA2}"/>
              </a:ext>
            </a:extLst>
          </p:cNvPr>
          <p:cNvSpPr/>
          <p:nvPr/>
        </p:nvSpPr>
        <p:spPr>
          <a:xfrm>
            <a:off x="320040" y="6446520"/>
            <a:ext cx="11548872" cy="320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5671" y="123444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Key metrics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74320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99,457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Transactions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43200" cy="13716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353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₺251.5M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13716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353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₺2,529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Basket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280160"/>
            <a:ext cx="2743200" cy="1371600"/>
          </a:xfrm>
          <a:prstGeom prst="rect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1353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Avg Qty /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Column Reference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46120"/>
            <a:ext cx="5029200" cy="31089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2826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invoice_no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28269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Unique transaction 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75303"/>
            <a:ext cx="5029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customer_id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611879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Unique customer 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04487"/>
            <a:ext cx="5029200" cy="31089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941063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gender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941063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Customer gender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33672"/>
            <a:ext cx="5029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2702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2702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Customer age (18–69)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62856"/>
            <a:ext cx="5029200" cy="31089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599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59943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Product category (8)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92040"/>
            <a:ext cx="5029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9286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quantity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9286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Units per transaction (1–5)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221224"/>
            <a:ext cx="5029200" cy="31089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52578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price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2578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Unit price in 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50408"/>
            <a:ext cx="5029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586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payment_method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55869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Cash / Credit / Debit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879592"/>
            <a:ext cx="5029200" cy="310896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916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invoice_date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591616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Transaction 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6208775"/>
            <a:ext cx="50292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245351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shopping_mall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6245351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75"/>
                </a:solidFill>
              </a:rPr>
              <a:t>Mall name (10 malls)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2834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Top Categories by Volume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246120"/>
            <a:ext cx="4114800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400" y="33009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Clothing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34,487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3721608"/>
            <a:ext cx="1801291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2940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Cosmetics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0691" y="3776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15,097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4197096"/>
            <a:ext cx="1762991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29400" y="42519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Food &amp; Bev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92391" y="425195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14,776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4672583"/>
            <a:ext cx="1203525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29400" y="472744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Toys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32925" y="4727447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1E3A5F"/>
                </a:solidFill>
              </a:rPr>
              <a:t>10,087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5148072"/>
            <a:ext cx="1197201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29400" y="52029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Shoes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26601" y="5202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10,034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5623560"/>
            <a:ext cx="596095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29400" y="56784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5495" y="56784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4,996</a:t>
            </a:r>
          </a:p>
        </p:txBody>
      </p:sp>
    </p:spTree>
    <p:extLst>
      <p:ext uri="{BB962C8B-B14F-4D97-AF65-F5344CB8AC3E}">
        <p14:creationId xmlns:p14="http://schemas.microsoft.com/office/powerpoint/2010/main" val="199040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Gender Analysis — Distribution &amp; Sales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Tasks 1 &amp;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5577840"/>
            <a:ext cx="116128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Female customers dominate at 59.8% of total shoppers. They also purchased more units (178,659 vs 120,053), confirming a stronger overall purchasing intensity.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C81E5C-BBB8-4FBA-ADAA-B56CBBA6B3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5" t="4897" r="2418" b="6205"/>
          <a:stretch/>
        </p:blipFill>
        <p:spPr>
          <a:xfrm>
            <a:off x="484505" y="1581912"/>
            <a:ext cx="4822786" cy="34448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34AC90-DA65-4BD6-9B4F-1861EF38A6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5" t="1871" r="3430" b="2055"/>
          <a:stretch/>
        </p:blipFill>
        <p:spPr>
          <a:xfrm>
            <a:off x="6094412" y="1437565"/>
            <a:ext cx="5415716" cy="38750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Gender Analysis — Revenue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48BB21-4B51-495E-B9E8-B2408A3ACB73}"/>
              </a:ext>
            </a:extLst>
          </p:cNvPr>
          <p:cNvGrpSpPr/>
          <p:nvPr/>
        </p:nvGrpSpPr>
        <p:grpSpPr>
          <a:xfrm>
            <a:off x="6766560" y="1280160"/>
            <a:ext cx="5029200" cy="1280160"/>
            <a:chOff x="6766560" y="1280160"/>
            <a:chExt cx="5029200" cy="1280160"/>
          </a:xfrm>
        </p:grpSpPr>
        <p:sp>
          <p:nvSpPr>
            <p:cNvPr id="8" name="Rectangle 7"/>
            <p:cNvSpPr/>
            <p:nvPr/>
          </p:nvSpPr>
          <p:spPr>
            <a:xfrm>
              <a:off x="6766560" y="1280160"/>
              <a:ext cx="5029200" cy="1280160"/>
            </a:xfrm>
            <a:prstGeom prst="rect">
              <a:avLst/>
            </a:prstGeom>
            <a:solidFill>
              <a:srgbClr val="E91E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66560" y="1353312"/>
              <a:ext cx="502920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800" b="1" i="0" dirty="0">
                  <a:solidFill>
                    <a:srgbClr val="FFFFFF"/>
                  </a:solidFill>
                </a:rPr>
                <a:t>₺150.2M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66560" y="1965960"/>
              <a:ext cx="5029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</a:rPr>
                <a:t>Female Revenue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926286-01A4-4590-BB43-A79C6A7D88C6}"/>
              </a:ext>
            </a:extLst>
          </p:cNvPr>
          <p:cNvGrpSpPr/>
          <p:nvPr/>
        </p:nvGrpSpPr>
        <p:grpSpPr>
          <a:xfrm>
            <a:off x="6766560" y="2788920"/>
            <a:ext cx="5029200" cy="1280160"/>
            <a:chOff x="6766560" y="2926080"/>
            <a:chExt cx="5029200" cy="1280160"/>
          </a:xfrm>
        </p:grpSpPr>
        <p:sp>
          <p:nvSpPr>
            <p:cNvPr id="11" name="Rectangle 10"/>
            <p:cNvSpPr/>
            <p:nvPr/>
          </p:nvSpPr>
          <p:spPr>
            <a:xfrm>
              <a:off x="6766560" y="2926080"/>
              <a:ext cx="5029200" cy="1280160"/>
            </a:xfrm>
            <a:prstGeom prst="rect">
              <a:avLst/>
            </a:prstGeom>
            <a:solidFill>
              <a:srgbClr val="2E86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766560" y="2999232"/>
              <a:ext cx="502920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</a:rPr>
                <a:t>₺101.3M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66560" y="3611880"/>
              <a:ext cx="5029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>
                  <a:solidFill>
                    <a:srgbClr val="FFFFFF"/>
                  </a:solidFill>
                </a:rPr>
                <a:t>Male Revenue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F3F5A16-84FE-4240-846A-0C118335CE3F}"/>
              </a:ext>
            </a:extLst>
          </p:cNvPr>
          <p:cNvGrpSpPr/>
          <p:nvPr/>
        </p:nvGrpSpPr>
        <p:grpSpPr>
          <a:xfrm>
            <a:off x="6766560" y="4279392"/>
            <a:ext cx="5029200" cy="1280160"/>
            <a:chOff x="6766560" y="4480560"/>
            <a:chExt cx="5029200" cy="1280160"/>
          </a:xfrm>
        </p:grpSpPr>
        <p:sp>
          <p:nvSpPr>
            <p:cNvPr id="14" name="Rectangle 13"/>
            <p:cNvSpPr/>
            <p:nvPr/>
          </p:nvSpPr>
          <p:spPr>
            <a:xfrm>
              <a:off x="6766560" y="4480560"/>
              <a:ext cx="5029200" cy="128016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66560" y="4553712"/>
              <a:ext cx="5029200" cy="594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800" b="1" i="0" dirty="0">
                  <a:solidFill>
                    <a:srgbClr val="FFFFFF"/>
                  </a:solidFill>
                </a:rPr>
                <a:t>59.7%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66560" y="5166360"/>
              <a:ext cx="50292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0" i="0" dirty="0">
                  <a:solidFill>
                    <a:srgbClr val="FFFFFF"/>
                  </a:solidFill>
                </a:rPr>
                <a:t>Female Share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74320" y="5742432"/>
            <a:ext cx="116128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852" y="578815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Female customers generated ₺150.2M (59.7%) vs ₺101.3M for males. Revenue gap is proportional to transaction volume — average spend per transaction is similar across genders.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8C44EB-60DB-4AD5-8C14-AC51E538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89" y="1325880"/>
            <a:ext cx="3498693" cy="4029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Category Distribution by Gender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5806440"/>
            <a:ext cx="1161288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💡  Clothing dominates all genders. Female shoppers lead in every category — especially C</a:t>
            </a:r>
            <a:r>
              <a:rPr lang="en-IN" sz="1200" b="0" i="0" dirty="0" err="1">
                <a:solidFill>
                  <a:srgbClr val="FFFFFF"/>
                </a:solidFill>
              </a:rPr>
              <a:t>lothing</a:t>
            </a:r>
            <a:r>
              <a:rPr sz="1200" b="0" i="0" dirty="0">
                <a:solidFill>
                  <a:srgbClr val="FFFFFF"/>
                </a:solidFill>
              </a:rPr>
              <a:t> and Toys. Technology is the narrowest gender gap, suggesting cross-gender appeal.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BB08CF-FD26-4CAC-8ED4-F883AF779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66" y="1158432"/>
            <a:ext cx="7909089" cy="44405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 Group Analysis — Distribution &amp; Sales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Tasks 5 &amp;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5577840"/>
            <a:ext cx="116128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The 55+ age group is both the largest segment (26,587 customers) AND the highest-volume buyers (79,850 units). Younger shoppers (18-25) are the smallest and least active group.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E97BE2-E87F-434C-B2F4-290C1F61F2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6"/>
          <a:stretch/>
        </p:blipFill>
        <p:spPr>
          <a:xfrm>
            <a:off x="212003" y="1783573"/>
            <a:ext cx="5856834" cy="29325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69A2D3-067E-4E2E-B6A8-BDB61C0AA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462" y="1769031"/>
            <a:ext cx="5606360" cy="29616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 Group Analysis — Revenue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0" y="1280160"/>
            <a:ext cx="4480560" cy="914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444751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18-25  →  ₺38.1M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2359152"/>
            <a:ext cx="448056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252374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26-35  →  ₺47.9M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3438144"/>
            <a:ext cx="4480560" cy="9144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3602736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36-45  →  ₺50.2M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4517136"/>
            <a:ext cx="4480560" cy="9144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4681727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46-55  →  ₺48.2M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5596127"/>
            <a:ext cx="4480560" cy="914400"/>
          </a:xfrm>
          <a:prstGeom prst="rect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76071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55+  →  ₺67.1M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116128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55+ customers generated the highest revenue at ₺67.1M — 26.7% of total revenue. Retailers should prioritize loyalty programs for older customers while growing the 18-35 youth segment.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72ED69-7E9B-4546-8435-4D23DB77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76" y="1353312"/>
            <a:ext cx="6570981" cy="39593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Category Distribution by Age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5806440"/>
            <a:ext cx="1161288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Clothing dominates across all age groups (~34%). Category preferences remain relatively stable — suggesting consistent buying behaviour. Technology interest slightly rises in the 36-45 bracket.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36A39C-E6EB-4DA4-B989-0317CF8E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42" y="1344893"/>
            <a:ext cx="11091578" cy="42169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Payment Method — Distribution &amp; Gender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Tasks 9 &amp;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5577840"/>
            <a:ext cx="1161288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Cash is the dominant payment method (44.7%). Gender has minimal influence on payment preference — both male and female follow the same Cash &gt; Credit &gt; Debit pattern.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1A4E04-224B-4614-B883-3B5E494C14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6"/>
          <a:stretch/>
        </p:blipFill>
        <p:spPr>
          <a:xfrm>
            <a:off x="6098530" y="1354188"/>
            <a:ext cx="5788670" cy="38178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A752DB-05C6-47C4-83BE-361B8F2F6B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01"/>
          <a:stretch/>
        </p:blipFill>
        <p:spPr>
          <a:xfrm>
            <a:off x="365760" y="1354188"/>
            <a:ext cx="5422782" cy="3847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Payment Method vs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 9 — Extended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5943600"/>
            <a:ext cx="1161288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💡  Payment mix is broadly consistent across categories. High-value categories (Technology, Clothing) see slightly higher credit card usage, suggesting customers prefer installment options for big purchases.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E45119-FD1A-46C2-A381-CB23DF60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643" y="1139739"/>
            <a:ext cx="9047281" cy="46056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Shopping Mall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 11 —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5806440"/>
            <a:ext cx="1161288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 Mall of Istanbul &amp; Kanyon are top performers at ~₺50.5M each. Bottom-tier malls (Forum Istanbul, Emaar) generate ~₺12.3–12.4M — significant gap suggesting opportunity for strategic investment.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6A4BCD-E04C-4D36-8997-5A629BA4A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17" y="1173284"/>
            <a:ext cx="7963590" cy="45114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Insights &amp;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</a:rPr>
              <a:t>Task 11 — Business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715000" cy="1600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👩 Target Female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0992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Women = 59.8% of shoppers &amp; 59.7% of revenue. Invest in female-focused campaigns, loyalty rewards, and exclusive female-centric product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715000" cy="1600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👴 Senior Segment is 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70992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55+ = largest customer group &amp; top revenue driver (₺67.1M). Launch senior loyalty cards, senior-hour discounts, and comfortable in-mall facilities.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715000" cy="16002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3108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👗 Double Down on Clothing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Clothing = 45.3% of all revenue (₺114M). Expand fashion offerings, seasonal collections, and cross-sell with Shoes (₺66.5M) for outfit bundles.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17520"/>
            <a:ext cx="5715000" cy="1600200"/>
          </a:xfrm>
          <a:prstGeom prst="rect">
            <a:avLst/>
          </a:prstGeom>
          <a:solidFill>
            <a:srgbClr val="6B4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108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💳 Promote Digital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49300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Cash still dominates at 44.7%. Incentivize credit/debit card usage via cashback and reward points to improve payment data and reduce cash handling costs.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00600"/>
            <a:ext cx="5715000" cy="16002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4892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🏬 Invest in Underperforming Malls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276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Forum Istanbul &amp; Emaar Square earn &lt;₺12.5M vs ₺50M at top malls. Conduct footfall analysis and targeted marketing to uplift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800600"/>
            <a:ext cx="5715000" cy="1600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892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📱 Grow the Youth 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5276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18-25 is the smallest segment. Introduce digital-first experiences, social media campaigns, and tech/gaming product zones to attract younger shoppers.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463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88952" cy="2834640"/>
          </a:xfrm>
          <a:prstGeom prst="rect">
            <a:avLst/>
          </a:prstGeom>
          <a:solidFill>
            <a:srgbClr val="14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E8F4FD"/>
                </a:solidFill>
              </a:rPr>
              <a:t>Istanbul</a:t>
            </a:r>
            <a:r>
              <a:rPr lang="en-IN" sz="1800" b="0" i="1" dirty="0">
                <a:solidFill>
                  <a:srgbClr val="E8F4FD"/>
                </a:solidFill>
              </a:rPr>
              <a:t>’s</a:t>
            </a:r>
            <a:r>
              <a:rPr sz="1800" b="0" i="1" dirty="0">
                <a:solidFill>
                  <a:srgbClr val="E8F4FD"/>
                </a:solidFill>
              </a:rPr>
              <a:t> Shopping Mall Analysis  |  2021 –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FFFFFF"/>
                </a:solidFill>
              </a:rPr>
              <a:t>Data Source: </a:t>
            </a:r>
            <a:r>
              <a:rPr lang="en-IN" sz="1400" b="0" i="0" dirty="0" err="1">
                <a:solidFill>
                  <a:srgbClr val="FFFFFF"/>
                </a:solidFill>
              </a:rPr>
              <a:t>Datamites</a:t>
            </a:r>
            <a:r>
              <a:rPr sz="1400" b="0" i="0" dirty="0">
                <a:solidFill>
                  <a:srgbClr val="FFFFFF"/>
                </a:solidFill>
              </a:rPr>
              <a:t>  •  99,457 Records  •  10 Malls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921</Words>
  <Application>Microsoft Office PowerPoint</Application>
  <PresentationFormat>Custom</PresentationFormat>
  <Paragraphs>132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27</cp:revision>
  <dcterms:created xsi:type="dcterms:W3CDTF">2013-01-27T09:14:16Z</dcterms:created>
  <dcterms:modified xsi:type="dcterms:W3CDTF">2026-03-10T22:29:03Z</dcterms:modified>
  <cp:category/>
</cp:coreProperties>
</file>